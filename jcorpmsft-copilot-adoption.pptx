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4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Persona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6A4E"/>
              </a:solidFill>
              <a:effectLst/>
            </c:spPr>
          </c:dPt>
          <c:dPt>
            <c:idx val="1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bubble3D val="0"/>
            <c:spPr>
              <a:solidFill>
                <a:srgbClr val="FFD23F"/>
              </a:solidFill>
              <a:effectLst/>
            </c:spPr>
          </c:dPt>
          <c:dPt>
            <c:idx val="4"/>
            <c:bubble3D val="0"/>
            <c:spPr>
              <a:solidFill>
                <a:srgbClr val="FF4F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Knowledge Workers</c:v>
                </c:pt>
                <c:pt idx="1">
                  <c:v>People Managers</c:v>
                </c:pt>
                <c:pt idx="2">
                  <c:v>Specialists</c:v>
                </c:pt>
                <c:pt idx="3">
                  <c:v>Champions</c:v>
                </c:pt>
                <c:pt idx="4">
                  <c:v>Executive Leaders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120</c:v>
                </c:pt>
                <c:pt idx="1">
                  <c:v>30</c:v>
                </c:pt>
                <c:pt idx="2">
                  <c:v>25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Remote (virtual)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Quest 1</c:v>
                  </c:pt>
                  <c:pt idx="1">
                    <c:v>Quest 2</c:v>
                  </c:pt>
                  <c:pt idx="2">
                    <c:v>Quest 3</c:v>
                  </c:pt>
                  <c:pt idx="3">
                    <c:v>Quest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88</c:v>
                </c:pt>
                <c:pt idx="2">
                  <c:v>90</c:v>
                </c:pt>
                <c:pt idx="3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On-site Microsoft KL</c:v>
                </c:pt>
              </c:strCache>
            </c:strRef>
          </c:tx>
          <c:spPr>
            <a:solidFill>
              <a:srgbClr val="FF4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Quest 1</c:v>
                  </c:pt>
                  <c:pt idx="1">
                    <c:v>Quest 2</c:v>
                  </c:pt>
                  <c:pt idx="2">
                    <c:v>Quest 3</c:v>
                  </c:pt>
                  <c:pt idx="3">
                    <c:v>Quest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10</c:v>
                </c:pt>
                <c:pt idx="2">
                  <c:v>8</c:v>
                </c:pt>
                <c:pt idx="3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On-site JCorp Johor</c:v>
                </c:pt>
              </c:strCache>
            </c:strRef>
          </c:tx>
          <c:spPr>
            <a:solidFill>
              <a:srgbClr val="00A3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Quest 1</c:v>
                  </c:pt>
                  <c:pt idx="1">
                    <c:v>Quest 2</c:v>
                  </c:pt>
                  <c:pt idx="2">
                    <c:v>Quest 3</c:v>
                  </c:pt>
                  <c:pt idx="3">
                    <c:v>Quest 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</c:v>
                </c:pt>
                <c:pt idx="1">
                  <c:v>2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weekly active users (target)</c:v>
                </c:pt>
              </c:strCache>
            </c:strRef>
          </c:tx>
          <c:spPr>
            <a:solidFill>
              <a:srgbClr val="006A4E"/>
            </a:solidFill>
            <a:ln w="38100" cap="flat">
              <a:solidFill>
                <a:srgbClr val="006A4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6A4E"/>
              </a:solidFill>
              <a:ln w="9525" cap="flat">
                <a:solidFill>
                  <a:srgbClr val="006A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25</c:v>
                </c:pt>
                <c:pt idx="4">
                  <c:v>40</c:v>
                </c:pt>
                <c:pt idx="5">
                  <c:v>55</c:v>
                </c:pt>
                <c:pt idx="6">
                  <c:v>62</c:v>
                </c:pt>
                <c:pt idx="7">
                  <c:v>68</c:v>
                </c:pt>
                <c:pt idx="8">
                  <c:v>72</c:v>
                </c:pt>
                <c:pt idx="9">
                  <c:v>74</c:v>
                </c:pt>
                <c:pt idx="10">
                  <c:v>75</c:v>
                </c:pt>
                <c:pt idx="11">
                  <c:v>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 1 goal (75%)</c:v>
                </c:pt>
              </c:strCache>
            </c:strRef>
          </c:tx>
          <c:spPr>
            <a:solidFill>
              <a:srgbClr val="FFD23F"/>
            </a:solidFill>
            <a:ln w="38100" cap="flat">
              <a:solidFill>
                <a:srgbClr val="FFD2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D23F"/>
              </a:solidFill>
              <a:ln w="9525" cap="flat">
                <a:solidFill>
                  <a:srgbClr val="FFD2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75</c:v>
                </c:pt>
                <c:pt idx="4">
                  <c:v>75</c:v>
                </c:pt>
                <c:pt idx="5">
                  <c:v>75</c:v>
                </c:pt>
                <c:pt idx="6">
                  <c:v>75</c:v>
                </c:pt>
                <c:pt idx="7">
                  <c:v>75</c:v>
                </c:pt>
                <c:pt idx="8">
                  <c:v>75</c:v>
                </c:pt>
                <c:pt idx="9">
                  <c:v>75</c:v>
                </c:pt>
                <c:pt idx="10">
                  <c:v>75</c:v>
                </c:pt>
                <c:pt idx="11">
                  <c:v>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Microsoft delivery (person-days)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Lift-off</c:v>
                  </c:pt>
                  <c:pt idx="1">
                    <c:v>Q2 Power Up</c:v>
                  </c:pt>
                  <c:pt idx="2">
                    <c:v>Q3 Build</c:v>
                  </c:pt>
                  <c:pt idx="3">
                    <c:v>Q4 Soar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70</c:v>
                </c:pt>
                <c:pt idx="3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JCorp PMO + champions (person-days)</c:v>
                </c:pt>
              </c:strCache>
            </c:strRef>
          </c:tx>
          <c:spPr>
            <a:solidFill>
              <a:srgbClr val="006A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Lift-off</c:v>
                  </c:pt>
                  <c:pt idx="1">
                    <c:v>Q2 Power Up</c:v>
                  </c:pt>
                  <c:pt idx="2">
                    <c:v>Q3 Build</c:v>
                  </c:pt>
                  <c:pt idx="3">
                    <c:v>Q4 Soar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90</c:v>
                </c:pt>
                <c:pt idx="2">
                  <c:v>100</c:v>
                </c:pt>
                <c:pt idx="3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A36C"/>
          </a:solidFill>
          <a:ln w="12700">
            <a:solidFill>
              <a:srgbClr val="00A3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4114800"/>
            <a:ext cx="5486400" cy="5486400"/>
          </a:xfrm>
          <a:prstGeom prst="ellipse">
            <a:avLst/>
          </a:prstGeom>
          <a:solidFill>
            <a:srgbClr val="004D38"/>
          </a:solidFill>
          <a:ln w="12700">
            <a:solidFill>
              <a:srgbClr val="00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-914400"/>
            <a:ext cx="3200400" cy="3200400"/>
          </a:xfrm>
          <a:prstGeom prst="ellipse">
            <a:avLst/>
          </a:prstGeom>
          <a:solidFill>
            <a:srgbClr val="FF4F8B"/>
          </a:solidFill>
          <a:ln w="12700">
            <a:solidFill>
              <a:srgbClr val="FF4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486400"/>
            <a:ext cx="1828800" cy="182880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ADVENTURE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</a:t>
            </a:r>
            <a:pPr indent="0" marL="0">
              <a:buNone/>
            </a:pPr>
            <a:r>
              <a:rPr lang="en-US" sz="80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</a:t>
            </a:r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work magical.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12-month, remote-first M365 Copilot enablement program for Johor Corporation HQ.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live from Microsoft Kuala Lumpur.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</a:t>
            </a:r>
            <a:pPr indent="0" marL="0">
              <a:buNone/>
            </a:pPr>
            <a:r>
              <a:rPr lang="en-US" sz="13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Johor Corporation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By </a:t>
            </a:r>
            <a:pPr indent="0" marL="0">
              <a:buNone/>
            </a:pPr>
            <a:r>
              <a:rPr lang="en-US" sz="13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Malaysia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12-month program to skill 200 JCorp employees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Remote-first delivery from Microsoft KL with executive on-site touchpoints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2402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HQ employees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1031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22402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37560" y="29718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phased quests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2402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29718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active target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98280" y="21031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98280" y="22402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098280" y="29718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delivered remotely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55778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49040"/>
            <a:ext cx="91440" cy="2468880"/>
          </a:xfrm>
          <a:prstGeom prst="rect">
            <a:avLst/>
          </a:prstGeom>
          <a:solidFill>
            <a:srgbClr val="00A36C"/>
          </a:solidFill>
          <a:ln w="12700">
            <a:solidFill>
              <a:srgbClr val="00A3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886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42976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JCorp's 200 HQ employees are a high-leverage population to demonstrate measurable productivity gains. The Johor-KL gap makes a remote-first cadence the only sustainable model. On-site time is reserved for executive sponsorship and milestone events that genuinely require physical presence.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3749040"/>
            <a:ext cx="55778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3749040"/>
            <a:ext cx="91440" cy="2468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886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by month 12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42976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licensed users active weekly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documented JCorp use cases with measured value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15-person internal champions network sustaining adoption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scorecard tracked quarterly by JCorp leadership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M365 Copilot, why now for JCorp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5532120" cy="1965960"/>
          </a:xfrm>
          <a:prstGeom prst="roundRect">
            <a:avLst>
              <a:gd name="adj" fmla="val 4651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77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331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is the new competitive moat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297180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deploying generative AI report 30-50% time savings on document, analytics, and communication tasks. JCorp's HQ functions are highly information-intensive - prime ground for compounding gains.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2103120"/>
            <a:ext cx="5532120" cy="1965960"/>
          </a:xfrm>
          <a:prstGeom prst="roundRect">
            <a:avLst>
              <a:gd name="adj" fmla="val 4651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774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86600" y="2331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is already your foundation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46520" y="297180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extends the M365 environment JCorp already trusts and pays for. No net-new platform risk, no new vendors, no data residency surprise.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4251960"/>
            <a:ext cx="5532120" cy="1965960"/>
          </a:xfrm>
          <a:prstGeom prst="roundRect">
            <a:avLst>
              <a:gd name="adj" fmla="val 4651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262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480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HQ employees is the right size to win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85800" y="51206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enough to demonstrate enterprise-grade outcomes. Small enough to instrument carefully and personalise the journey for each function.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17920" y="4251960"/>
            <a:ext cx="5532120" cy="1965960"/>
          </a:xfrm>
          <a:prstGeom prst="roundRect">
            <a:avLst>
              <a:gd name="adj" fmla="val 4651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5262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86600" y="4480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now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46520" y="51206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Malaysian conglomerates are deploying Copilot in 2026. Moving deliberately this year positions JCorp as a regional reference customer.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6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FF4F8B"/>
          </a:solidFill>
          <a:ln w="12700">
            <a:solidFill>
              <a:srgbClr val="FF4F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 12, every JCorp</a:t>
            </a:r>
            <a:endParaRPr lang="en-US" sz="5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 has an AI sidekick.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board papers in minutes. Summarising meetings before the door closes.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subsidiary performance over a coffee. Asking the company's knowledge a question, in plain English, and getting a real answer.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vibe. Let's go build it together.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employees, 5 personas, tailored journeys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210312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103120"/>
          <a:ext cx="5852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30175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Persona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Executive Leaders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Strategic decision support, exec briefings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People Managers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Team productivity, meeting summarisation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Knowledge Workers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120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Daily Office productivity, drafting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Specialists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Excel analytics, contract review, policy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Champions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Advanced use cases, peer coaching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Remote-first by design - the Johor-KL gap, solved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is in KL. JCorp HQ is in Johor. We engineered the program around that reality from day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86000"/>
            <a:ext cx="109728" cy="8686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95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virtual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249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virtual labs (max 25 learners), Teams Live Events, on-demand Microsoft Learn. Capped at 60 min per session - no fatigue.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46120"/>
            <a:ext cx="109728" cy="868680"/>
          </a:xfrm>
          <a:prstGeom prst="rect">
            <a:avLst/>
          </a:prstGeom>
          <a:solidFill>
            <a:srgbClr val="FF4F8B"/>
          </a:solidFill>
          <a:ln w="12700">
            <a:solidFill>
              <a:srgbClr val="FF4F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558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for impact, not for routine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68503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Senior Leadership immerses at Microsoft KL Executive Briefing Centre quarterly - more impactful than any Johor site visit.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206240"/>
            <a:ext cx="109728" cy="868680"/>
          </a:xfrm>
          <a:prstGeom prst="rect">
            <a:avLst/>
          </a:prstGeom>
          <a:solidFill>
            <a:srgbClr val="00A36C"/>
          </a:solidFill>
          <a:ln w="12700">
            <a:solidFill>
              <a:srgbClr val="00A3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3159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visits Johor 3 times in 12 months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64515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party (M1), mid-year roadshow (M8), grand finale (M12). Each visit has a virtual fallback plan.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516636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166360"/>
            <a:ext cx="109728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2760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bridge the distance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560527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internal champions are the always-on presence between virtual sessions. They coach peers and keep momentum local.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remote, 12% Microsoft KL, 3% on-site Johor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2103120"/>
          <a:ext cx="71323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210312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mix works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0" y="269748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logistical burden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4-hour return KL-Johor commute per session is unsustainable for 12 months.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executive intimacy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leaders get full in-person experience at Microsoft KL EBC - more impactful than any Johor visit.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session frequency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Remote-first preserves consultant capacity, allowing weekly cadence rather than monthly.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and channel by persona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194560"/>
                <a:gridCol w="1828800"/>
                <a:gridCol w="47548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Persona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Primary channel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Cadence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Executive Leaders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On-site KL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Quarterly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Half-day immersion at Microsoft KL EBC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People Managers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Hybrid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Monthly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Virtual workshop + KL clinic per quarter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Knowledge Workers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Remote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Bi-weekly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Virtual labs + on-demand learning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Specialists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Remote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Monthly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Function-specific virtual deep-dives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Champions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Hybrid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Weekly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Virtual standups + quarterly KL bootcamp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EF6E4"/>
          </a:solidFill>
          <a:ln w="25400">
            <a:solidFill>
              <a:srgbClr val="FFD23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55321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is calibrated to role intensity. Champions and managers carry the weight of weekly engagement; broader population engages bi-weekly to monthly to avoid fatigue.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quests over twelve months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 is a season - different focus, same energy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97480" cy="402336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38100">
            <a:solidFill>
              <a:srgbClr val="FF4F8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0180" y="2468880"/>
            <a:ext cx="731520" cy="731520"/>
          </a:xfrm>
          <a:prstGeom prst="ellipse">
            <a:avLst/>
          </a:prstGeom>
          <a:solidFill>
            <a:srgbClr val="FF4F8B"/>
          </a:solidFill>
          <a:ln w="12700">
            <a:solidFill>
              <a:srgbClr val="FF4F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0180" y="2560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3383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Lift-off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3886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3891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Spark: sponsor, pilot, kick-off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5532120"/>
            <a:ext cx="365760" cy="365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337560" y="2194560"/>
            <a:ext cx="2697480" cy="402336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20540" y="2468880"/>
            <a:ext cx="731520" cy="73152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0540" y="2560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74720" y="3383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Up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74720" y="3886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4-6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566160" y="43891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Skill: onboard 200, train champions</a:t>
            </a:r>
            <a:endParaRPr lang="en-US" sz="1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5532120"/>
            <a:ext cx="365760" cy="3657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217920" y="2194560"/>
            <a:ext cx="2697480" cy="402336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381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200900" y="2468880"/>
            <a:ext cx="731520" cy="7315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200900" y="2560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355080" y="3383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Cool Stuff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6355080" y="3886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7-9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46520" y="43891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hackathon, deep-dives</a:t>
            </a:r>
            <a:endParaRPr lang="en-US" sz="1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0" y="5532120"/>
            <a:ext cx="365760" cy="36576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9098280" y="2194560"/>
            <a:ext cx="2697480" cy="402336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3810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10081260" y="2468880"/>
            <a:ext cx="731520" cy="7315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081260" y="2560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9235440" y="3383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&amp; Celebrate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9235440" y="3886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10-12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9326880" y="43891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Sustain: agents, finale, handover</a:t>
            </a:r>
            <a:endParaRPr lang="en-US" sz="12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4140" y="5532120"/>
            <a:ext cx="365760" cy="36576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1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Lift-off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1-3  |  Spark phase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0" y="640080"/>
            <a:ext cx="2103120" cy="1188720"/>
          </a:xfrm>
          <a:prstGeom prst="roundRect">
            <a:avLst>
              <a:gd name="adj" fmla="val 11538"/>
            </a:avLst>
          </a:prstGeom>
          <a:solidFill>
            <a:srgbClr val="FF4F8B"/>
          </a:solidFill>
          <a:ln w="12700">
            <a:solidFill>
              <a:srgbClr val="FF4F8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0" y="6400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247120" cy="54864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Kick-off!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FF4F8B"/>
          </a:solidFill>
          <a:ln w="12700">
            <a:solidFill>
              <a:srgbClr val="FF4F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108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launch party at JCorp HQ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5204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Microsoft visit to Johor. Full HQ workforce energised. Sponsor publicly commits.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92608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3200400"/>
            <a:ext cx="548640" cy="548640"/>
          </a:xfrm>
          <a:prstGeom prst="ellipse">
            <a:avLst/>
          </a:prstGeom>
          <a:solidFill>
            <a:srgbClr val="FF4F8B"/>
          </a:solidFill>
          <a:ln w="12700">
            <a:solidFill>
              <a:srgbClr val="FF4F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3108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immersion at Microsoft KL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78040" y="35204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 at the EBC. Demos, hands-on, peer conversations with other executives.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4754880"/>
            <a:ext cx="548640" cy="548640"/>
          </a:xfrm>
          <a:prstGeom prst="ellipse">
            <a:avLst/>
          </a:prstGeom>
          <a:solidFill>
            <a:srgbClr val="FF4F8B"/>
          </a:solidFill>
          <a:ln w="12700">
            <a:solidFill>
              <a:srgbClr val="FF4F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6634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squad of 25 early adopters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0749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champions and managers test-drive everything before broad rollout.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48056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754880"/>
            <a:ext cx="548640" cy="548640"/>
          </a:xfrm>
          <a:prstGeom prst="ellipse">
            <a:avLst/>
          </a:prstGeom>
          <a:solidFill>
            <a:srgbClr val="FF4F8B"/>
          </a:solidFill>
          <a:ln w="12700">
            <a:solidFill>
              <a:srgbClr val="FF4F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78040" y="46634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assessment &amp; governance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78040" y="50749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hygiene check, sensitivity labels, steering committee formed (JCorp + Microsoft).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2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4-6  |  Skill phase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0" y="640080"/>
            <a:ext cx="2103120" cy="1188720"/>
          </a:xfrm>
          <a:prstGeom prst="roundRect">
            <a:avLst>
              <a:gd name="adj" fmla="val 11538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0" y="6400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247120" cy="54864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Champions assemble!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108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200 teammates onboarded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5204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license rollout (50/month) with role-based virtual labs - 8 labs/week, max 25 learners each.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92608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3200400"/>
            <a:ext cx="548640" cy="54864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3108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bootcamp at Microsoft KL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78040" y="35204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days in person. Advanced Copilot, prompt craft, change management. Champions take it home.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4754880"/>
            <a:ext cx="548640" cy="54864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6634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Lunch &amp; Learn sessions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0749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virtual format. Real workflows, real wins. Recorded for the on-demand library.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48056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754880"/>
            <a:ext cx="548640" cy="54864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78040" y="46634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quarterly executive review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78040" y="50749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Leadership returns to Microsoft KL to review adoption telemetry and shape Quest 3.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Cool Stuff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7-9  |  Build phase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0" y="640080"/>
            <a:ext cx="2103120" cy="1188720"/>
          </a:xfrm>
          <a:prstGeom prst="roundRect">
            <a:avLst>
              <a:gd name="adj" fmla="val 1153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0" y="6400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247120" cy="54864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Hackathon time!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108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Copilot Hackathon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5204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 teams co-design 5 JCorp-specific scenarios. Virtual build, KL judging.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92608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320040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3108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Function-specific deep-dives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78040" y="35204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deep-dives for Finance, HR, Legal, Operations. Real artefacts, real value capture.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475488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6634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Mid-year roadshow in Johor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0749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 visits JCorp HQ. Listening tour, health check, momentum boost.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48056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75488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78040" y="46634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adoption leaderboard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78040" y="50749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Adoption Score dashboard goes live. Friendly team-vs-team competition begins.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4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&amp; Celebrate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10-12  |  Sustain phase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0" y="640080"/>
            <a:ext cx="2103120" cy="1188720"/>
          </a:xfrm>
          <a:prstGeom prst="roundRect">
            <a:avLst>
              <a:gd name="adj" fmla="val 11538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0" y="6400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247120" cy="54864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Celebrate!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108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AI agents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5204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sessions on Copilot Studio, Pages, agent governance. JCorp-specific agents shipped.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92608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320040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3108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showcase on camera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78040" y="35204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star in 60-second clips telling their best Copilot story. Library kept for year-2.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475488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6634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celebration in Johor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0749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visits JCorp HQ for the grand finale. Awards, case study readout, year-2 preview.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48056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75488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78040" y="46634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take the wheel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78040" y="50749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owns the ongoing cadence. Microsoft steps into a sustained advisor role.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NETWORK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internal heroes leading the charge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always-on local presence that bridges the Johor-KL distance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703320" cy="4114800"/>
          </a:xfrm>
          <a:prstGeom prst="roundRect">
            <a:avLst>
              <a:gd name="adj" fmla="val 2963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03120"/>
            <a:ext cx="370332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214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(15 total)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Executive Office / Strategy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Finance &amp; Investments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Legal &amp; Compliance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 &amp; People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Corporate Affairs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IT / Digital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Operations / Property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2103120"/>
            <a:ext cx="3703320" cy="4114800"/>
          </a:xfrm>
          <a:prstGeom prst="roundRect">
            <a:avLst>
              <a:gd name="adj" fmla="val 2963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1688" y="2103120"/>
            <a:ext cx="3703320" cy="457200"/>
          </a:xfrm>
          <a:prstGeom prst="rect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21214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commitment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27432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hours per week (peer coaching)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1.5-day bootcamp at Microsoft KL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retreat at Microsoft KL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virtual standup with MS Customer Success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66176" y="2103120"/>
            <a:ext cx="3703320" cy="4114800"/>
          </a:xfrm>
          <a:prstGeom prst="roundRect">
            <a:avLst>
              <a:gd name="adj" fmla="val 2963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66176" y="2103120"/>
            <a:ext cx="3703320" cy="457200"/>
          </a:xfrm>
          <a:prstGeom prst="rect">
            <a:avLst/>
          </a:prstGeom>
          <a:solidFill>
            <a:srgbClr val="FF4F8B"/>
          </a:solidFill>
          <a:ln w="12700">
            <a:solidFill>
              <a:srgbClr val="FF4F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21214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perks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94776" y="27432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 to new Copilot features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recognition by JCorp sponsor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KL EBC experiences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swag pack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Year-2 advisory role on Microsoft account team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USE CASES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JCorp-specific scenarios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paired with a champion, with measurable baselines taken before rollout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023360"/>
                <a:gridCol w="2377440"/>
                <a:gridCol w="4297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Indicative value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Board paper drafting &amp; summarisation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Executive Office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40-50% drafting time reduction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Subsidiary performance roll-up analytics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Strategy / Finance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2-4 hrs/analyst/week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Meeting recap, actions and decisions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All managers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30 min/meeting saved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Investor &amp; stakeholder briefing decks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Corporate Affairs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50% deck-build time reduction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Contract first-pass review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Legal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1-2 hrs/contract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HR policy Q&amp;A &amp; onboarding assistant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HR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Reduces HR ticket volume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Email triage &amp; response drafting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All employees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30-45 min/day saved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Tender / RFP response drafting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Business Development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40% turnaround reduction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Internal knowledge search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All employees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Faster onboarding, fewer 'who knows X' emails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Sustainability / ESG report drafting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Corporate Affairs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Quarterly cycle compression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TACTICS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everyone hyped for 12 months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6974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5400">
            <a:solidFill>
              <a:srgbClr val="FFD2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40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collection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digital badges for every milestone, shown in Teams profiles.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2103120"/>
            <a:ext cx="26974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5400">
            <a:solidFill>
              <a:srgbClr val="FF4F8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240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2044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leaderboard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31089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team-vs-team adoption rankings. Bragging rights at stake.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6974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240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Confessions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1089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podcast where teammates share their best (and weirdest) prompts.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8280" y="2103120"/>
            <a:ext cx="26974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5400">
            <a:solidFill>
              <a:srgbClr val="FF8A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81160" y="2240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🎂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28116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Win-of-the-Week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81160" y="31089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Friday, one teammate's time-saving story gets celebrated org-wide.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26974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297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008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remix challenges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166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creative prompts. Best output gets featured and prized.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37560" y="4160520"/>
            <a:ext cx="26974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5400">
            <a:solidFill>
              <a:srgbClr val="00A36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20440" y="4297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🍩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52044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sessions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20440" y="5166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pairings of teammates swap Copilot tips over a virtual coffee.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4160520"/>
            <a:ext cx="26974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0" y="4297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40080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videos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5166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 clips showing how Copilot changed someone's week.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98280" y="4160520"/>
            <a:ext cx="26974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5400">
            <a:solidFill>
              <a:srgbClr val="FF4F8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81160" y="4297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28116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awards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81160" y="5166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builder, best teacher, biggest impact - presented by the JCorp sponsor.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SCORECARD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'winning' looks like by month 12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monthly via Microsoft Adoption Score and quarterly pulse surveys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74320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Q2 target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Q4 target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% licensed users active weekly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Adoption Score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50%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75%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Avg actions/user/week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Copilot telemetry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Documented use cases with quantified value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Champions log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Self-reported time saved (hrs/user/week)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Pulse survey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Sentiment NPS (Copilot helpfulness)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Pulse survey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+30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+50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Active champions in network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Roster + activity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Training completion rate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Microsoft Learn / SharePoint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70%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90%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85216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FEF6E4"/>
          </a:solidFill>
          <a:ln w="25400">
            <a:solidFill>
              <a:srgbClr val="FFD23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852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Integrity: 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Time-saved figures are self-reported and presented as such. Adoption Score and Copilot telemetry are objective. Where claims cannot be measured, they are flagged as assumptions.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RAMP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trajectory: 75% weekly active by month 12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2103120"/>
          <a:ext cx="11247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structure &amp; decision rights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  <a:gridCol w="393192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Body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Cadence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Membership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Executive Steering Committee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Quarterly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JCorp sponsor + Microsoft account team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On-site KL EBC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Program Working Group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Bi-weekly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JCorp PMO + MS Customer Success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Teams (virtual)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Champions Council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Weekly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15 champions + MS lead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Teams (virtual)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Technical Forum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Monthly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JCorp IT + MS FastTrack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Teams (virtual)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937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rights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53492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direction and budget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Executive Steering Committee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delivery and content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Program Working Group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prioritisation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Champions Council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risks with mitigations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280160"/>
                <a:gridCol w="1280160"/>
                <a:gridCol w="45720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A5568"/>
                          </a:solidFill>
                        </a:rPr>
                        <a:t>Remote engagement fatigue erodes attendance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Med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Cap virtual sessions at 60 min; gamify; champions drive peer accountability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A5568"/>
                          </a:solidFill>
                        </a:rPr>
                        <a:t>Data hygiene gaps surface incorrect content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Med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Pre-rollout SharePoint permissions audit; sensitivity labels enforced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A5568"/>
                          </a:solidFill>
                        </a:rPr>
                        <a:t>Executive sponsorship fades after kick-off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Med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Quarterly KL EBC sessions designed as executive-led, not vendor-led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A5568"/>
                          </a:solidFill>
                        </a:rPr>
                        <a:t>License cost not justified by demonstrated value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Low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Quantified value capture from Q2 onwards; published quarterly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A5568"/>
                          </a:solidFill>
                        </a:rPr>
                        <a:t>Champions burn out from overload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Med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Med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</a:rPr>
                        <a:t>Time commitment formalised with line managers; recognition program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effort and license envelope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pricing requires formal Microsoft commercial proposal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0312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2103120"/>
            <a:ext cx="4846320" cy="4114800"/>
          </a:xfrm>
          <a:prstGeom prst="roundRect">
            <a:avLst>
              <a:gd name="adj" fmla="val 2222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2376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envelope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23760" y="260604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200x Copilot for M365 licenses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commitment, JCorp procures direct or via partner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enablement services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covered through customer success investment; incremental scope quoted separately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travel (SLT to KL, quarterly)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cost; estimated based on 8-12 travellers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to JCorp Johor (3 visits/year)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internal cost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recognition &amp; events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internal cost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JCORP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decisions to unlock the program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957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2860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Executive sponsor confirmed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265176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Chief HR Officer or Chief Digital Officer. ~2 hours/month commitment, plus quarterly KL EBC sessions.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315468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5584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2461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200 Copilot for M365 licenses approved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80160" y="361188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commitment. JCorp procures direct or via Microsoft partner of choice.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411480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1596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2062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15 champions nominated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80160" y="457200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functions, by end of month 1. Time commitment formalised with line managers.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507492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EF6E4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27608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5166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Senior Leadership KL travel authorised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80160" y="55321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person SLT, quarterly trips to Microsoft KL EBC. Travel budget approved upfront.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from approval to kick-off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1945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6A4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286000"/>
            <a:ext cx="2194560" cy="548640"/>
          </a:xfrm>
          <a:prstGeom prst="rect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confirmation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executive sponsor signs off on scope and intent.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2286000"/>
            <a:ext cx="21945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6A4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2286000"/>
            <a:ext cx="2194560" cy="548640"/>
          </a:xfrm>
          <a:prstGeom prst="rect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2-3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proposal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71800" y="41605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KL issues formal Customer Success Plan and license proposal.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2286000"/>
            <a:ext cx="21945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6A4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20640" y="2286000"/>
            <a:ext cx="2194560" cy="548640"/>
          </a:xfrm>
          <a:prstGeom prst="rect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893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25780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nomination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41605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leads nominate the 15 champions across JCorp HQ.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52360" y="2286000"/>
            <a:ext cx="21945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6A4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52360" y="2286000"/>
            <a:ext cx="2194560" cy="548640"/>
          </a:xfrm>
          <a:prstGeom prst="rect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5-6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10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8952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assessment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35240" y="41605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FastTrack runs M365 hygiene check; sensitivity labels reviewed.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784080" y="2286000"/>
            <a:ext cx="21945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6A4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84080" y="2286000"/>
            <a:ext cx="2194560" cy="548640"/>
          </a:xfrm>
          <a:prstGeom prst="rect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6527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92124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party in Johor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966960" y="41605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visits JCorp HQ for the launch. Quest 1 begins.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61264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FFD23F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kick-off: 7 weeks from JCorp executive sign-off.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 case detail with Copilot surfaces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29768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Copilot surface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Champion function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Board paper drafting &amp; summarisation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Word, Copilot Chat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Executive Office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Subsidiary performance roll-up analytics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Excel, Copilot Chat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Strategy / Finance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Meeting recap, actions and decisions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Teams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All managers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Investor &amp; stakeholder briefing decks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PowerPoint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Corporate Affairs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Contract first-pass review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Word, Copilot Chat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Legal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HR policy Q&amp;A &amp; onboarding assistant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Copilot Studio agent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HR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Email triage &amp; response drafting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Outlook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All employees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Tender / RFP response drafting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Word, Copilot Chat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Business Development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Internal knowledge search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Copilot Chat (work)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All employees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Sustainability / ESG report drafting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Word, Excel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Corporate Affairs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JCorp x Microsoft Copilot  |  12-Month Adoption Program  |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51615" y="6537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6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A36C"/>
          </a:solidFill>
          <a:ln w="12700">
            <a:solidFill>
              <a:srgbClr val="00A3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004D38"/>
          </a:solidFill>
          <a:ln w="12700">
            <a:solidFill>
              <a:srgbClr val="004D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LAUNCH?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go build it.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sponsor. Nominate the champions. Set the kick-off date.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adventure begins as soon as you say go.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0" y="310896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3246120"/>
            <a:ext cx="2286000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0" y="5532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live site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5120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zeffree.github.io/jcorpmsft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Microsoft Malaysia for Johor Corporation  |  Indicative figures subject to confirmation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Microsoft Malaysia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JCorp x Microsoft Copilot - 12-Month Adoption Plan</dc:title>
  <dc:subject>PptxGenJS Presentation</dc:subject>
  <dc:creator>Microsoft Malaysia</dc:creator>
  <cp:lastModifiedBy>Microsoft Malaysia</cp:lastModifiedBy>
  <cp:revision>1</cp:revision>
  <dcterms:created xsi:type="dcterms:W3CDTF">2026-05-06T15:26:49Z</dcterms:created>
  <dcterms:modified xsi:type="dcterms:W3CDTF">2026-05-06T15:26:49Z</dcterms:modified>
</cp:coreProperties>
</file>